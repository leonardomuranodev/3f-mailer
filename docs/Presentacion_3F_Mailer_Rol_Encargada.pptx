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f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292608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56032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Plataforma 3F Mailer</a:t>
            </a:r>
          </a:p>
          <a:p>
            <a:pPr>
              <a:spcBef>
                <a:spcPts val="800"/>
              </a:spcBef>
              <a:defRPr sz="2200">
                <a:solidFill>
                  <a:srgbClr val="0284C7"/>
                </a:solidFill>
              </a:defRPr>
            </a:pPr>
            <a:r>
              <a:t>Manual de Operación y Guía Práctica — Rol Encargada</a:t>
            </a:r>
          </a:p>
          <a:p>
            <a:pPr>
              <a:spcBef>
                <a:spcPts val="1600"/>
              </a:spcBef>
              <a:defRPr sz="1400">
                <a:solidFill>
                  <a:srgbClr val="CBD5E1"/>
                </a:solidFill>
              </a:defRPr>
            </a:pPr>
            <a:r>
              <a:t>Dirección de Producción | Municipalidad de Tres de Febrero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0F1E3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EF3C7"/>
                </a:solidFill>
              </a:defRPr>
            </a:pPr>
            <a:r>
              <a:t>🎯 Diseñado para uso operativo diario de las encargadas: claro, simple y sin tecnicismos.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4F9C"/>
                </a:solidFill>
              </a:defRPr>
            </a:pPr>
            <a:r>
              <a:t>INTRODUCCIÓN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D5F"/>
                </a:solidFill>
              </a:defRPr>
            </a:pPr>
            <a:r>
              <a:t>¿Qué es 3F Mailer y cuál es tu función?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La herramienta oficial para conectar al municipio con el sector comercial e industrial de Tres de Febrero.</a:t>
            </a:r>
          </a:p>
        </p:txBody>
      </p:sp>
      <p:pic>
        <p:nvPicPr>
          <p:cNvPr id="7" name="Picture 6" descr="logo-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Municipalidad de Tres de Febrero — Dirección de Producción | Plataforma 3F Mailer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12064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¿Para qué sirve la plataforma?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Mailing Oficial: </a:t>
            </a:r>
            <a:r>
              <a:rPr sz="1150">
                <a:solidFill>
                  <a:srgbClr val="64748B"/>
                </a:solidFill>
              </a:rPr>
              <a:t>Envío masivo y prolijo de invitaciones a eventos, capacitaciones, rondas de negocios y anuncios municipales.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Cuidado de Marca: </a:t>
            </a:r>
            <a:r>
              <a:rPr sz="1150">
                <a:solidFill>
                  <a:srgbClr val="64748B"/>
                </a:solidFill>
              </a:rPr>
              <a:t>Garantiza que todos los correos tengan la estética municipal, membretes oficiales y enlaces seguros.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Fin de los Mails Manuales: </a:t>
            </a:r>
            <a:r>
              <a:rPr sz="1150">
                <a:solidFill>
                  <a:srgbClr val="64748B"/>
                </a:solidFill>
              </a:rPr>
              <a:t>Reemplaza el envío artesanal de correo por correo, ahorrando horas de trabajo repetitivo.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Monitoreo en Tiempo Real: </a:t>
            </a:r>
            <a:r>
              <a:rPr sz="1150">
                <a:solidFill>
                  <a:srgbClr val="64748B"/>
                </a:solidFill>
              </a:rPr>
              <a:t>Permite saber exactamente cuántas empresas abrieron el correo y quiénes hicieron clic en los links.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Tu Rol como Encargada vs Otros Roles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Rol Encargada (Tu rol): </a:t>
            </a:r>
            <a:r>
              <a:rPr sz="1150">
                <a:solidFill>
                  <a:srgbClr val="64748B"/>
                </a:solidFill>
              </a:rPr>
              <a:t>Tenés control total del día a día: redactás campañas, cargás contactos, subís afiches, realizás pruebas y autorizás envíos.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Rol Invitado: </a:t>
            </a:r>
            <a:r>
              <a:rPr sz="1150">
                <a:solidFill>
                  <a:srgbClr val="64748B"/>
                </a:solidFill>
              </a:rPr>
              <a:t>Solo tiene permiso de lectura. Puede ver estadísticas y números para reportes, pero no puede tocar ni enviar nada.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Rol Desarrollador: </a:t>
            </a:r>
            <a:r>
              <a:rPr sz="1150">
                <a:solidFill>
                  <a:srgbClr val="64748B"/>
                </a:solidFill>
              </a:rPr>
              <a:t>Se encarga únicamente del mantenimiento técnico del servidor y configuraciones internas.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Enfoque Práctico: </a:t>
            </a:r>
            <a:r>
              <a:rPr sz="1150">
                <a:solidFill>
                  <a:srgbClr val="64748B"/>
                </a:solidFill>
              </a:rPr>
              <a:t>No necesitás saber programación ni bases de datos. Todo el sistema está pensado para resolver tareas con botones simples.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4F9C"/>
                </a:solidFill>
              </a:defRPr>
            </a:pPr>
            <a:r>
              <a:t>MAPA DE LA APLICACIÓN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D5F"/>
                </a:solidFill>
              </a:defRPr>
            </a:pPr>
            <a:r>
              <a:t>Menú Principal: Cómo moverte por 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La barra superior te permite acceder en un clic a cada una de las áreas de trabajo.</a:t>
            </a:r>
          </a:p>
        </p:txBody>
      </p:sp>
      <p:pic>
        <p:nvPicPr>
          <p:cNvPr id="7" name="Picture 6" descr="logo-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Municipalidad de Tres de Febrero — Dirección de Producción | Plataforma 3F Mailer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3375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333756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Campañas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Tu centro de control: </a:t>
            </a:r>
            <a:r>
              <a:rPr sz="1150">
                <a:solidFill>
                  <a:srgbClr val="64748B"/>
                </a:solidFill>
              </a:rPr>
              <a:t>Listado de correos enviados, en proceso o en borrador. Desde acá creás nuevas campañas.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3375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333756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93392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Estadísticas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Impacto global: </a:t>
            </a:r>
            <a:r>
              <a:rPr sz="1150">
                <a:solidFill>
                  <a:srgbClr val="64748B"/>
                </a:solidFill>
              </a:rPr>
              <a:t>Tablero visual con el total de aperturas, clics y alcance acumulado en el tiempo.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375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33756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93392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Contactos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La agenda productiva: </a:t>
            </a:r>
            <a:r>
              <a:rPr sz="1150">
                <a:solidFill>
                  <a:srgbClr val="64748B"/>
                </a:solidFill>
              </a:rPr>
              <a:t>El directorio con todas las empresas, sus correos, CUIT y rubros asignados.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33375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069080"/>
            <a:ext cx="333756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33672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Cuentas de Envío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Casillas oficiales: </a:t>
            </a:r>
            <a:r>
              <a:rPr sz="1150">
                <a:solidFill>
                  <a:srgbClr val="64748B"/>
                </a:solidFill>
              </a:rPr>
              <a:t>Las cuentas de correo desde donde el sistema despacha los mensajes en rotación.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069080"/>
            <a:ext cx="33375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4069080"/>
            <a:ext cx="333756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233672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Horarios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Control de despacho: </a:t>
            </a:r>
            <a:r>
              <a:rPr sz="1150">
                <a:solidFill>
                  <a:srgbClr val="64748B"/>
                </a:solidFill>
              </a:rPr>
              <a:t>Días y horas en los que está permitido mandar mails para no molestar fuera de hora.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069080"/>
            <a:ext cx="33375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4069080"/>
            <a:ext cx="333756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4233672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Perfil y Soporte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Tu cuenta: </a:t>
            </a:r>
            <a:r>
              <a:rPr sz="1150">
                <a:solidFill>
                  <a:srgbClr val="64748B"/>
                </a:solidFill>
              </a:rPr>
              <a:t>Cambio de contraseña personal y canal de contacto para pedir ayuda técnica.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4F9C"/>
                </a:solidFill>
              </a:defRPr>
            </a:pPr>
            <a:r>
              <a:t>CREACIÓN DE CAMPAÑAS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D5F"/>
                </a:solidFill>
              </a:defRPr>
            </a:pPr>
            <a:r>
              <a:t>Paso a Paso: Diseñando un nuevo envío masivo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Desde el botón '+ Nueva Campaña', el formulario te guía punto por punto.</a:t>
            </a:r>
          </a:p>
        </p:txBody>
      </p:sp>
      <p:pic>
        <p:nvPicPr>
          <p:cNvPr id="7" name="Picture 6" descr="logo-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Municipalidad de Tres de Febrero — Dirección de Producción | Plataforma 3F Mailer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12064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1. Datos Básicos del Envío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Asunto del Correo: </a:t>
            </a:r>
            <a:r>
              <a:rPr sz="1150">
                <a:solidFill>
                  <a:srgbClr val="64748B"/>
                </a:solidFill>
              </a:rPr>
              <a:t>Es lo primero que lee la empresa. Debe ser claro y convocante (Ej: 'Invitación: Ronda de Negocios Minería').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Fecha Límite de Envío: </a:t>
            </a:r>
            <a:r>
              <a:rPr sz="1150">
                <a:solidFill>
                  <a:srgbClr val="64748B"/>
                </a:solidFill>
              </a:rPr>
              <a:t>La fecha máxima para mandar los mails. Muy útil para eventos con fecha fija; el sistema nunca mandará mails de un evento ya pasado.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Prioridad del Envío: </a:t>
            </a:r>
            <a:r>
              <a:rPr sz="1150">
                <a:solidFill>
                  <a:srgbClr val="64748B"/>
                </a:solidFill>
              </a:rPr>
              <a:t>Podés marcar Alta, Media o Baja. Si hay varias campañas activas, el sistema despacha primero las de prioridad Alta.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Flexibilidad: </a:t>
            </a:r>
            <a:r>
              <a:rPr sz="1150">
                <a:solidFill>
                  <a:srgbClr val="64748B"/>
                </a:solidFill>
              </a:rPr>
              <a:t>Podés cambiar estos datos en cualquier momento mientras la campaña esté en estado Borrador.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120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2. Botones de Inscripción / Enlaces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Link Único de Inscripción: </a:t>
            </a:r>
            <a:r>
              <a:rPr sz="1150">
                <a:solidFill>
                  <a:srgbClr val="64748B"/>
                </a:solidFill>
              </a:rPr>
              <a:t>Es el caso estándar: un botón principal que lleva a un formulario de inscripción (Google Forms, web, etc.).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Links Múltiples (Nación / Provincia): </a:t>
            </a:r>
            <a:r>
              <a:rPr sz="1150">
                <a:solidFill>
                  <a:srgbClr val="64748B"/>
                </a:solidFill>
              </a:rPr>
              <a:t>Si el programa depende de dos organismos, podés activar esta opción para mostrar dos botones independientes.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Botones Automáticos: </a:t>
            </a:r>
            <a:r>
              <a:rPr sz="1150">
                <a:solidFill>
                  <a:srgbClr val="64748B"/>
                </a:solidFill>
              </a:rPr>
              <a:t>No necesitás diseñar nada: la app genera botones llamativos con los colores municipales listos para hacer clic.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Seguridad de Clics: </a:t>
            </a:r>
            <a:r>
              <a:rPr sz="1150">
                <a:solidFill>
                  <a:srgbClr val="64748B"/>
                </a:solidFill>
              </a:rPr>
              <a:t>El sistema contabiliza cuántas empresas tocaron cada botón para que midas el interés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4F9C"/>
                </a:solidFill>
              </a:defRPr>
            </a:pPr>
            <a:r>
              <a:t>CONTENIDO DEL MENSAJE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D5F"/>
                </a:solidFill>
              </a:defRPr>
            </a:pPr>
            <a:r>
              <a:t>Flyer de Cabecera, Archivos Adjuntos y 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Dale formato profesional al correo con imágenes oficiales y documentos complementarios.</a:t>
            </a:r>
          </a:p>
        </p:txBody>
      </p:sp>
      <p:pic>
        <p:nvPicPr>
          <p:cNvPr id="7" name="Picture 6" descr="logo-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Municipalidad de Tres de Febrero — Dirección de Producción | Plataforma 3F Mailer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1206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Imágenes y Archivos Adjuntos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Flyer Oficial de Cabecera: </a:t>
            </a:r>
            <a:r>
              <a:rPr sz="1150">
                <a:solidFill>
                  <a:srgbClr val="64748B"/>
                </a:solidFill>
              </a:rPr>
              <a:t>Subí el afiche o imagen de la capacitación (JPG o PNG). La app lo adapta para que se vea impecable en PC y celulares.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Archivo Adjunto (Opcional): </a:t>
            </a:r>
            <a:r>
              <a:rPr sz="1150">
                <a:solidFill>
                  <a:srgbClr val="64748B"/>
                </a:solidFill>
              </a:rPr>
              <a:t>Activá la opción 'Incluir archivo adjunto' para sumar un PDF con el programa, catálogo o presentación.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Nombre Original Preservado: </a:t>
            </a:r>
            <a:r>
              <a:rPr sz="1150">
                <a:solidFill>
                  <a:srgbClr val="64748B"/>
                </a:solidFill>
              </a:rPr>
              <a:t>El archivo llega al destinatario con su nombre prolijo (ej: 'Programa_Capacitacion.pdf'), sin códigos raros.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Recomendación de Peso: </a:t>
            </a:r>
            <a:r>
              <a:rPr sz="1150">
                <a:solidFill>
                  <a:srgbClr val="64748B"/>
                </a:solidFill>
              </a:rPr>
              <a:t>Conviene usar PDFs livianos (menos de 5 MB) para que el envío sea rápido y no sature casillas.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1208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Editor Visual de Texto (Tiptap)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Escribir como en Word: </a:t>
            </a:r>
            <a:r>
              <a:rPr sz="1150">
                <a:solidFill>
                  <a:srgbClr val="64748B"/>
                </a:solidFill>
              </a:rPr>
              <a:t>Redactás el cuerpo del correo de forma directa con botones para Negrita, Cursiva, Listas y Enlaces.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Estructura Institucional: </a:t>
            </a:r>
            <a:r>
              <a:rPr sz="1150">
                <a:solidFill>
                  <a:srgbClr val="64748B"/>
                </a:solidFill>
              </a:rPr>
              <a:t>La app rodea tu texto con la cabecera municipal oficial y el pie de página formal sin que tengas que maquetarlo.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Mensaje de Desuscripción: </a:t>
            </a:r>
            <a:r>
              <a:rPr sz="1150">
                <a:solidFill>
                  <a:srgbClr val="64748B"/>
                </a:solidFill>
              </a:rPr>
              <a:t>Incluye automáticamente el aviso legal para que las empresas puedan solicitar no recibir más comunicaciones si lo desean.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Espaciado Prolijo: </a:t>
            </a:r>
            <a:r>
              <a:rPr sz="1150">
                <a:solidFill>
                  <a:srgbClr val="64748B"/>
                </a:solidFill>
              </a:rPr>
              <a:t>Garantiza tipografía moderna y lectura cómoda en cualquier programa de correo.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4F9C"/>
                </a:solidFill>
              </a:defRPr>
            </a:pPr>
            <a:r>
              <a:t>SEGMENTACIÓN DE AUDIENCIA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D5F"/>
                </a:solidFill>
              </a:defRPr>
            </a:pPr>
            <a:r>
              <a:t>¿A quiénes le llega el mensaje? (Filtro por Rubro)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Enviá a toda la comunidad empresarial o segmentá por rubros específicos según la temática.</a:t>
            </a:r>
          </a:p>
        </p:txBody>
      </p:sp>
      <p:pic>
        <p:nvPicPr>
          <p:cNvPr id="7" name="Picture 6" descr="logo-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Municipalidad de Tres de Febrero — Dirección de Producción | Plataforma 3F Mailer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Modo 1: Enviar a Todos los Rubros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Un solo clic: </a:t>
            </a:r>
            <a:r>
              <a:rPr sz="1150">
                <a:solidFill>
                  <a:srgbClr val="64748B"/>
                </a:solidFill>
              </a:rPr>
              <a:t>Activás el interruptor 'Enviar a todos los rubros' y la campaña se programa para todas las empresas funcionales de la base.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Cuándo usarlo: </a:t>
            </a:r>
            <a:r>
              <a:rPr sz="1150">
                <a:solidFill>
                  <a:srgbClr val="64748B"/>
                </a:solidFill>
              </a:rPr>
              <a:t>Para anuncios generales del intendente, ferias masivas, beneficios impositivos globales o festejos comunales.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Comportamiento: </a:t>
            </a:r>
            <a:r>
              <a:rPr sz="1150">
                <a:solidFill>
                  <a:srgbClr val="64748B"/>
                </a:solidFill>
              </a:rPr>
              <a:t>Llega a empresas de cualquier sector, e incluye también a las que todavía no tienen un rubro especificado.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1208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Modo 2: Rubros Específicos + 'Sin Rubro'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Selección a medida: </a:t>
            </a:r>
            <a:r>
              <a:rPr sz="1150">
                <a:solidFill>
                  <a:srgbClr val="64748B"/>
                </a:solidFill>
              </a:rPr>
              <a:t>Desmarcás la opción general y tildás únicamente los sectores que te interesan (Metalúrgica, Alimentos, Textil, etc.).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Opción 'Sin rubro asignado': </a:t>
            </a:r>
            <a:r>
              <a:rPr sz="1150">
                <a:solidFill>
                  <a:srgbClr val="64748B"/>
                </a:solidFill>
              </a:rPr>
              <a:t>Te permite incluir a empresas que fueron recién cargadas y aún no fueron catalogadas, para no dejarlas afuera.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Ahorro de Contactos: </a:t>
            </a:r>
            <a:r>
              <a:rPr sz="1150">
                <a:solidFill>
                  <a:srgbClr val="64748B"/>
                </a:solidFill>
              </a:rPr>
              <a:t>Evita enviar contenido irrelevante a comercios que no tienen que ver con la temática (cuidando el interés del vecino).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4F9C"/>
                </a:solidFill>
              </a:defRPr>
            </a:pPr>
            <a:r>
              <a:t>SEGURIDAD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D5F"/>
                </a:solidFill>
              </a:defRPr>
            </a:pPr>
            <a:r>
              <a:t>Las 4 Acciones Clave antes de Disparar una Campaña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Herramientas diseñadas para que la encargada revise todo con tranquilidad y cero riesgo de error.</a:t>
            </a:r>
          </a:p>
        </p:txBody>
      </p:sp>
      <p:pic>
        <p:nvPicPr>
          <p:cNvPr id="7" name="Picture 6" descr="logo-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Municipalidad de Tres de Febrero — Dirección de Producción | Plataforma 3F Mailer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688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246888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💾 Guardar Borrador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Trabajo en etapas: </a:t>
            </a:r>
            <a:r>
              <a:rPr sz="1150">
                <a:solidFill>
                  <a:srgbClr val="64748B"/>
                </a:solidFill>
              </a:rPr>
              <a:t>Podés empezar a cargar un flyer o texto y guardarlo para continuar mañana.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No envía nada: </a:t>
            </a:r>
            <a:r>
              <a:rPr sz="1150">
                <a:solidFill>
                  <a:srgbClr val="64748B"/>
                </a:solidFill>
              </a:rPr>
              <a:t>Queda en pausa en tu listado sin enviar ningún correo a nadie.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828800"/>
            <a:ext cx="24688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1828800"/>
            <a:ext cx="246888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1993392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👁️ Vista Previa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Simulación exacta: </a:t>
            </a:r>
            <a:r>
              <a:rPr sz="1150">
                <a:solidFill>
                  <a:srgbClr val="64748B"/>
                </a:solidFill>
              </a:rPr>
              <a:t>Abre una pantalla que te muestra cómo se va a ver el correo final en el monitor de la empresa.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Revisión visual: </a:t>
            </a:r>
            <a:r>
              <a:rPr sz="1150">
                <a:solidFill>
                  <a:srgbClr val="64748B"/>
                </a:solidFill>
              </a:rPr>
              <a:t>Ideal para chequear que la imagen no esté cortada y los textos se lean bien.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28800"/>
            <a:ext cx="24688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82880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1993392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✉️ Mail de Prueba (⭐ Clave)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Disparo a tu casilla: </a:t>
            </a:r>
            <a:r>
              <a:rPr sz="1150">
                <a:solidFill>
                  <a:srgbClr val="64748B"/>
                </a:solidFill>
              </a:rPr>
              <a:t>Hace un envío real inmediato a tu propio correo municipal.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Verificación final: </a:t>
            </a:r>
            <a:r>
              <a:rPr sz="1150">
                <a:solidFill>
                  <a:srgbClr val="64748B"/>
                </a:solidFill>
              </a:rPr>
              <a:t>Abrís tu Gmail/Outlook y confirmás que el flyer cargue y los botones funcionen.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828800"/>
            <a:ext cx="24688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06256" y="1828800"/>
            <a:ext cx="2468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1993392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✅ Aprobar y Enviar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Lanzamiento oficial: </a:t>
            </a:r>
            <a:r>
              <a:rPr sz="1150">
                <a:solidFill>
                  <a:srgbClr val="64748B"/>
                </a:solidFill>
              </a:rPr>
              <a:t>Al tocar este botón, la campaña pasa a estado Aprobada.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Envío automático: </a:t>
            </a:r>
            <a:r>
              <a:rPr sz="1150">
                <a:solidFill>
                  <a:srgbClr val="64748B"/>
                </a:solidFill>
              </a:rPr>
              <a:t>El robot del sistema empieza a despachar los correos según los horarios permitidos.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4F9C"/>
                </a:solidFill>
              </a:defRPr>
            </a:pPr>
            <a:r>
              <a:t>SEGUIMIENTO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D5F"/>
                </a:solidFill>
              </a:defRPr>
            </a:pPr>
            <a:r>
              <a:t>Detalle de Campaña: La Fila de Envíos en Tiempo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Una vez lanzada, podés entrar a la campaña y monitorear cada correo segundo a segundo.</a:t>
            </a:r>
          </a:p>
        </p:txBody>
      </p:sp>
      <p:pic>
        <p:nvPicPr>
          <p:cNvPr id="7" name="Picture 6" descr="logo-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Municipalidad de Tres de Febrero — Dirección de Producción | Plataforma 3F Mailer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12064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Tarjetas de Estado Inmediato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Total Contactos: </a:t>
            </a:r>
            <a:r>
              <a:rPr sz="1150">
                <a:solidFill>
                  <a:srgbClr val="64748B"/>
                </a:solidFill>
              </a:rPr>
              <a:t>Cantidad exacta de empresas asignadas a esta campaña.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Enviados (Verde): </a:t>
            </a:r>
            <a:r>
              <a:rPr sz="1150">
                <a:solidFill>
                  <a:srgbClr val="64748B"/>
                </a:solidFill>
              </a:rPr>
              <a:t>Correos que ya salieron con éxito hacia los servidores de destino.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Pendientes (Amarillo): </a:t>
            </a:r>
            <a:r>
              <a:rPr sz="1150">
                <a:solidFill>
                  <a:srgbClr val="64748B"/>
                </a:solidFill>
              </a:rPr>
              <a:t>Mails en fila de espera que se están despachando progresivamente.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Fallidos (Rojo): </a:t>
            </a:r>
            <a:r>
              <a:rPr sz="1150">
                <a:solidFill>
                  <a:srgbClr val="64748B"/>
                </a:solidFill>
              </a:rPr>
              <a:t>Correos que rebotaron o tuvieron algún impedimento para entregarse.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Interacciones (Violeta): </a:t>
            </a:r>
            <a:r>
              <a:rPr sz="1150">
                <a:solidFill>
                  <a:srgbClr val="64748B"/>
                </a:solidFill>
              </a:rPr>
              <a:t>Cantidad de empresas que hicieron clic en los links de inscripción.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Control de Pausa: </a:t>
            </a:r>
            <a:r>
              <a:rPr sz="1150">
                <a:solidFill>
                  <a:srgbClr val="64748B"/>
                </a:solidFill>
              </a:rPr>
              <a:t>Botón para pausar y reanudar el envío en cualquier instante si hace falta.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120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Tabla Fila por Fila y Funciones Útiles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Transparencia total: </a:t>
            </a:r>
            <a:r>
              <a:rPr sz="1150">
                <a:solidFill>
                  <a:srgbClr val="64748B"/>
                </a:solidFill>
              </a:rPr>
              <a:t>Ves cada fila con: empresa, email destinatario, estado puntual, fecha y hora de envío.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Buscador de Correos: </a:t>
            </a:r>
            <a:r>
              <a:rPr sz="1150">
                <a:solidFill>
                  <a:srgbClr val="64748B"/>
                </a:solidFill>
              </a:rPr>
              <a:t>Podés buscar un email específico para confirmarle por teléfono si ya se le envió la invitación.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Filtro por Estado: </a:t>
            </a:r>
            <a:r>
              <a:rPr sz="1150">
                <a:solidFill>
                  <a:srgbClr val="64748B"/>
                </a:solidFill>
              </a:rPr>
              <a:t>Filtrá para ver solo los que están pendientes o solo los que rebotaron.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Botón Volver Arriba: </a:t>
            </a:r>
            <a:r>
              <a:rPr sz="1150">
                <a:solidFill>
                  <a:srgbClr val="64748B"/>
                </a:solidFill>
              </a:rPr>
              <a:t>Botón flotante en la esquina inferior derecha para volver arriba suavemente sin tener que scrollear toda la lista.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Descargar Reporte: </a:t>
            </a:r>
            <a:r>
              <a:rPr sz="1150">
                <a:solidFill>
                  <a:srgbClr val="64748B"/>
                </a:solidFill>
              </a:rPr>
              <a:t>Botón para bajar un Excel/CSV con el detalle de toda la campaña.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4F9C"/>
                </a:solidFill>
              </a:defRPr>
            </a:pPr>
            <a:r>
              <a:t>DIAGNÓSTICO INTELIGENTE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D5F"/>
                </a:solidFill>
              </a:defRPr>
            </a:pPr>
            <a:r>
              <a:t>Análisis de Fallos: Entendiendo por qué rebotó un correo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El sistema no solo marca que hubo un fallo, sino que te explica la causa en lenguaje humano.</a:t>
            </a:r>
          </a:p>
        </p:txBody>
      </p:sp>
      <p:pic>
        <p:nvPicPr>
          <p:cNvPr id="7" name="Picture 6" descr="logo-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Municipalidad de Tres de Febrero — Dirección de Producción | Plataforma 3F Mailer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Los Motivos de Fallo más Comunes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Cancelado: </a:t>
            </a:r>
            <a:r>
              <a:rPr sz="1150">
                <a:solidFill>
                  <a:srgbClr val="64748B"/>
                </a:solidFill>
              </a:rPr>
              <a:t>Mails que quedaron sin enviar porque la campaña fue cancelada o frenada intencionalmente.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Dominio Inexistente: </a:t>
            </a:r>
            <a:r>
              <a:rPr sz="1150">
                <a:solidFill>
                  <a:srgbClr val="64748B"/>
                </a:solidFill>
              </a:rPr>
              <a:t>La empresa cerró esa casilla o la página web ya no existe (ej: @empresa.com.ar dada de baja).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Casilla Llena: </a:t>
            </a:r>
            <a:r>
              <a:rPr sz="1150">
                <a:solidFill>
                  <a:srgbClr val="64748B"/>
                </a:solidFill>
              </a:rPr>
              <a:t>La empresa no vació su buzón de entrada y su proveedor rechaza nuevos correos.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Rechazado por Spam: </a:t>
            </a:r>
            <a:r>
              <a:rPr sz="1150">
                <a:solidFill>
                  <a:srgbClr val="64748B"/>
                </a:solidFill>
              </a:rPr>
              <a:t>El servidor de la empresa tiene filtros de seguridad corporativos muy restrictivos.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Email Mal Escrito: </a:t>
            </a:r>
            <a:r>
              <a:rPr sz="1150">
                <a:solidFill>
                  <a:srgbClr val="64748B"/>
                </a:solidFill>
              </a:rPr>
              <a:t>El contacto tenía un error de tipeo (ej: @gmai.com o espacios de más).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Otros: </a:t>
            </a:r>
            <a:r>
              <a:rPr sz="1150">
                <a:solidFill>
                  <a:srgbClr val="64748B"/>
                </a:solidFill>
              </a:rPr>
              <a:t>Impedimentos temporales de conexión entre servidores.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¿Qué hace la app automáticamente?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Aislamiento inteligente: </a:t>
            </a:r>
            <a:r>
              <a:rPr sz="1150">
                <a:solidFill>
                  <a:srgbClr val="64748B"/>
                </a:solidFill>
              </a:rPr>
              <a:t>La app detecta el motivo y cataloga el contacto para no insistirle en futuros envíos.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Protección de la Municipalidad: </a:t>
            </a:r>
            <a:r>
              <a:rPr sz="1150">
                <a:solidFill>
                  <a:srgbClr val="64748B"/>
                </a:solidFill>
              </a:rPr>
              <a:t>Si insistimos en enviar mails a casillas que no existen, Gmail o Outlook pueden marcar las casillas municipales como sospechosas.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Limpieza Progresiva: </a:t>
            </a:r>
            <a:r>
              <a:rPr sz="1150">
                <a:solidFill>
                  <a:srgbClr val="64748B"/>
                </a:solidFill>
              </a:rPr>
              <a:t>Con cada campaña, la base de datos municipal se vuelve más limpia, saludable y efectiva.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Porcentajes Claros: </a:t>
            </a:r>
            <a:r>
              <a:rPr sz="1150">
                <a:solidFill>
                  <a:srgbClr val="64748B"/>
                </a:solidFill>
              </a:rPr>
              <a:t>En la pestaña 'Estadísticas' de la campaña ves las tarjetas con el porcentaje exacto de cada motivo.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4F9C"/>
                </a:solidFill>
              </a:defRPr>
            </a:pPr>
            <a:r>
              <a:t>BASE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D5F"/>
                </a:solidFill>
              </a:defRPr>
            </a:pPr>
            <a:r>
              <a:t>Directorio de Contactos: El Corazón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La agenda viva con todas las empresas, comercios y profesionales de Tres de Febrero.</a:t>
            </a:r>
          </a:p>
        </p:txBody>
      </p:sp>
      <p:pic>
        <p:nvPicPr>
          <p:cNvPr id="7" name="Picture 6" descr="logo-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Municipalidad de Tres de Febrero — Dirección de Producción | Plataforma 3F Mailer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12064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Los Datos de Cada Contacto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Razón Social / Empresa: </a:t>
            </a:r>
            <a:r>
              <a:rPr sz="1150">
                <a:solidFill>
                  <a:srgbClr val="64748B"/>
                </a:solidFill>
              </a:rPr>
              <a:t>Nombre formal o fantasía del comercio o industria.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Correo Electrónico: </a:t>
            </a:r>
            <a:r>
              <a:rPr sz="1150">
                <a:solidFill>
                  <a:srgbClr val="64748B"/>
                </a:solidFill>
              </a:rPr>
              <a:t>La casilla de contacto principal de la empresa.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CUIT (Totalmente Flexible): </a:t>
            </a:r>
            <a:r>
              <a:rPr sz="1150">
                <a:solidFill>
                  <a:srgbClr val="64748B"/>
                </a:solidFill>
              </a:rPr>
              <a:t>Puede tener CUIT formal de 11 dígitos, o puede dejarse sin CUIT con el nuevo botón 'Dejar sin CUIT'.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Rubro Asignado: </a:t>
            </a:r>
            <a:r>
              <a:rPr sz="1150">
                <a:solidFill>
                  <a:srgbClr val="64748B"/>
                </a:solidFill>
              </a:rPr>
              <a:t>Sector productivo (Metalúrgica, Alimentos, Comercio, Servicios, etc.).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Filtro por Rubro: </a:t>
            </a:r>
            <a:r>
              <a:rPr sz="1150">
                <a:solidFill>
                  <a:srgbClr val="64748B"/>
                </a:solidFill>
              </a:rPr>
              <a:t>El buscador incluye la opción 'Sin Rubro' para detectar rápidamente contactos que necesitan ser categorizados.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Los Estados de un Contacto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Funcional (Verde): </a:t>
            </a:r>
            <a:r>
              <a:rPr sz="1150">
                <a:solidFill>
                  <a:srgbClr val="64748B"/>
                </a:solidFill>
              </a:rPr>
              <a:t>Contacto sano y activo. Recibirá todas las campañas que coincidan con su rubro.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Inactivo (Gris): </a:t>
            </a:r>
            <a:r>
              <a:rPr sz="1150">
                <a:solidFill>
                  <a:srgbClr val="64748B"/>
                </a:solidFill>
              </a:rPr>
              <a:t>Contacto pausado temporalmente (no se le enviarán campañas hasta que se reactive).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Rebotado Inexistente (Rojo): </a:t>
            </a:r>
            <a:r>
              <a:rPr sz="1150">
                <a:solidFill>
                  <a:srgbClr val="64748B"/>
                </a:solidFill>
              </a:rPr>
              <a:t>El sistema confirmó que la casilla ya no existe. Se lo aparta automáticamente.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Rebotado Bandeja Llena (Naranja): </a:t>
            </a:r>
            <a:r>
              <a:rPr sz="1150">
                <a:solidFill>
                  <a:srgbClr val="64748B"/>
                </a:solidFill>
              </a:rPr>
              <a:t>La casilla está saturada.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Mail Mal Escrito (Rosa): </a:t>
            </a:r>
            <a:r>
              <a:rPr sz="1150">
                <a:solidFill>
                  <a:srgbClr val="64748B"/>
                </a:solidFill>
              </a:rPr>
              <a:t>La dirección tiene errores de sintaxis y requiere corrección manual.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4F9C"/>
                </a:solidFill>
              </a:defRPr>
            </a:pPr>
            <a:r>
              <a:t>INGRESO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D5F"/>
                </a:solidFill>
              </a:defRPr>
            </a:pPr>
            <a:r>
              <a:t>Las 3 Maneras de Importar Contactos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Cargá empresas una por una, subí archivos Excel/CSV o sincronizá directamente desde la nube.</a:t>
            </a:r>
          </a:p>
        </p:txBody>
      </p:sp>
      <p:pic>
        <p:nvPicPr>
          <p:cNvPr id="7" name="Picture 6" descr="logo-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Municipalidad de Tres de Febrero — Dirección de Producción | Plataforma 3F Mailer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329184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1. Carga Individual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Botón '+ Crear Contacto': </a:t>
            </a:r>
            <a:r>
              <a:rPr sz="1150">
                <a:solidFill>
                  <a:srgbClr val="64748B"/>
                </a:solidFill>
              </a:rPr>
              <a:t>Para cuando te pasan una empresa nueva por teléfono o WhatsApp.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Autocompletado inteligente: </a:t>
            </a:r>
            <a:r>
              <a:rPr sz="1150">
                <a:solidFill>
                  <a:srgbClr val="64748B"/>
                </a:solidFill>
              </a:rPr>
              <a:t>Si empezás a escribir el nombre o CUIT de una empresa ya existente, la app te sugiere sus datos para no duplicar.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Validación amigable: </a:t>
            </a:r>
            <a:r>
              <a:rPr sz="1150">
                <a:solidFill>
                  <a:srgbClr val="64748B"/>
                </a:solidFill>
              </a:rPr>
              <a:t>Verifica que el mail esté bien escrito.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329184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93392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2. Importar Archivo CSV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Carga Masiva: </a:t>
            </a:r>
            <a:r>
              <a:rPr sz="1150">
                <a:solidFill>
                  <a:srgbClr val="64748B"/>
                </a:solidFill>
              </a:rPr>
              <a:t>Para subir listas generadas en Excel.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Asistente visual: </a:t>
            </a:r>
            <a:r>
              <a:rPr sz="1150">
                <a:solidFill>
                  <a:srgbClr val="64748B"/>
                </a:solidFill>
              </a:rPr>
              <a:t>La app te muestra una vista previa antes de guardar.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Detección de duplicados: </a:t>
            </a:r>
            <a:r>
              <a:rPr sz="1150">
                <a:solidFill>
                  <a:srgbClr val="64748B"/>
                </a:solidFill>
              </a:rPr>
              <a:t>Si un correo ya existía, no lo pisa ni genera errores.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93392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3. Sincronizar Sheets (⭐ Clave)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Un solo botón verde: </a:t>
            </a:r>
            <a:r>
              <a:rPr sz="1150">
                <a:solidFill>
                  <a:srgbClr val="64748B"/>
                </a:solidFill>
              </a:rPr>
              <a:t>Tocás 'Sincronizar con Sheets' y listo.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Conexión con el Drive: </a:t>
            </a:r>
            <a:r>
              <a:rPr sz="1150">
                <a:solidFill>
                  <a:srgbClr val="64748B"/>
                </a:solidFill>
              </a:rPr>
              <a:t>Trae en tiempo real las altas y modificaciones que hace el equipo en el Google Sheets oficial.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Tolerancia a fallos: </a:t>
            </a:r>
            <a:r>
              <a:rPr sz="1150">
                <a:solidFill>
                  <a:srgbClr val="64748B"/>
                </a:solidFill>
              </a:rPr>
              <a:t>Si una fila tiene un error de tipeo, no frena la importación: procesa las 2.000 filas restantes sin problemas.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4F9C"/>
                </a:solidFill>
              </a:defRPr>
            </a:pPr>
            <a:r>
              <a:t>RENDIMIENTO Y REPORTES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D5F"/>
                </a:solidFill>
              </a:defRPr>
            </a:pPr>
            <a:r>
              <a:t>Métricas Globales: ¿Qué representa cada número?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Tablero general para medir el éxito y alcance de la Dirección de Producción.</a:t>
            </a:r>
          </a:p>
        </p:txBody>
      </p:sp>
      <p:pic>
        <p:nvPicPr>
          <p:cNvPr id="7" name="Picture 6" descr="logo-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Municipalidad de Tres de Febrero — Dirección de Producción | Plataforma 3F Mailer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12064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Las Métricas Principales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Tasa de Apertura (Open Rate): </a:t>
            </a:r>
            <a:r>
              <a:rPr sz="1150">
                <a:solidFill>
                  <a:srgbClr val="64748B"/>
                </a:solidFill>
              </a:rPr>
              <a:t>Porcentaje de personas que abrieron el correo. Un número superior al 25-30% indica un excelente interés en la convocatoria.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Tasa de Clics (Click Rate): </a:t>
            </a:r>
            <a:r>
              <a:rPr sz="1150">
                <a:solidFill>
                  <a:srgbClr val="64748B"/>
                </a:solidFill>
              </a:rPr>
              <a:t>Porcentaje de personas que hicieron clic en el botón de inscripción. Mide el interés real en participar.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Tasa de Rebotes (Fallos): </a:t>
            </a:r>
            <a:r>
              <a:rPr sz="1150">
                <a:solidFill>
                  <a:srgbClr val="64748B"/>
                </a:solidFill>
              </a:rPr>
              <a:t>Porcentaje de correos que no pudieron entregarse. Mientras más bajo sea este número, más sana está la base.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Envíos Acumulados: </a:t>
            </a:r>
            <a:r>
              <a:rPr sz="1150">
                <a:solidFill>
                  <a:srgbClr val="64748B"/>
                </a:solidFill>
              </a:rPr>
              <a:t>El volumen histórico total despachado por el municipio.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Filtros y Utilidad para Informes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Filtro por Período: </a:t>
            </a:r>
            <a:r>
              <a:rPr sz="1150">
                <a:solidFill>
                  <a:srgbClr val="64748B"/>
                </a:solidFill>
              </a:rPr>
              <a:t>Podés consultar estadísticas de los 'Últimos 7 días', 'Este mes', o 'Personalizado' para armar informes mensuales de gestión.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Filtro por Rubro: </a:t>
            </a:r>
            <a:r>
              <a:rPr sz="1150">
                <a:solidFill>
                  <a:srgbClr val="64748B"/>
                </a:solidFill>
              </a:rPr>
              <a:t>Descubrí qué sectores son los más activos y participativos en las convocatorias municipales.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Exportación: </a:t>
            </a:r>
            <a:r>
              <a:rPr sz="1150">
                <a:solidFill>
                  <a:srgbClr val="64748B"/>
                </a:solidFill>
              </a:rPr>
              <a:t>Información lista para capturar en reportes para autoridades o secretaría.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Actualización Automática: </a:t>
            </a:r>
            <a:r>
              <a:rPr sz="1150">
                <a:solidFill>
                  <a:srgbClr val="64748B"/>
                </a:solidFill>
              </a:rPr>
              <a:t>Los números se refrescan solos a medida que los destinatarios interactúan con los correos.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4F9C"/>
                </a:solidFill>
              </a:defRPr>
            </a:pPr>
            <a:r>
              <a:t>INFRAESTRUCTURA SEGURA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D5F"/>
                </a:solidFill>
              </a:defRPr>
            </a:pPr>
            <a:r>
              <a:t>Cuentas de Envío y Control de Horarios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Cómo cuida la aplicación las casillas municipales y respeta los tiempos de las empresas.</a:t>
            </a:r>
          </a:p>
        </p:txBody>
      </p:sp>
      <p:pic>
        <p:nvPicPr>
          <p:cNvPr id="7" name="Picture 6" descr="logo-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Municipalidad de Tres de Febrero — Dirección de Producción | Plataforma 3F Mailer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12064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Cuentas de Envío (Vistas por arriba)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Múltiples Casillas Oficiales: </a:t>
            </a:r>
            <a:r>
              <a:rPr sz="1150">
                <a:solidFill>
                  <a:srgbClr val="64748B"/>
                </a:solidFill>
              </a:rPr>
              <a:t>La app utiliza varias cuentas de Gmail municipales autorizadas para repartir el trabajo.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Rotación Inteligente: </a:t>
            </a:r>
            <a:r>
              <a:rPr sz="1150">
                <a:solidFill>
                  <a:srgbClr val="64748B"/>
                </a:solidFill>
              </a:rPr>
              <a:t>Si tenés que mandar 1.000 mails, no salen todos de la misma cuenta: la app los alterna entre las cuentas activas.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Cuidado de Límites Diarios: </a:t>
            </a:r>
            <a:r>
              <a:rPr sz="1150">
                <a:solidFill>
                  <a:srgbClr val="64748B"/>
                </a:solidFill>
              </a:rPr>
              <a:t>Cada cuenta tiene un cupo máximo por día (ej: 450 mails). Si una cuenta llega a su límite, descansa y el sistema sigue con las demás.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¿Qué debe hacer la encargada?: </a:t>
            </a:r>
            <a:r>
              <a:rPr sz="1150">
                <a:solidFill>
                  <a:srgbClr val="64748B"/>
                </a:solidFill>
              </a:rPr>
              <a:t>Solo verificar que las cuentas figuren en verde ('Activa'). Del balanceo se ocupa la 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Control de Horarios de Despacho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Respeto Institucional: </a:t>
            </a:r>
            <a:r>
              <a:rPr sz="1150">
                <a:solidFill>
                  <a:srgbClr val="64748B"/>
                </a:solidFill>
              </a:rPr>
              <a:t>El municipio no envía correos de madrugada ni los domingos.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Franja Horaria Laboral: </a:t>
            </a:r>
            <a:r>
              <a:rPr sz="1150">
                <a:solidFill>
                  <a:srgbClr val="64748B"/>
                </a:solidFill>
              </a:rPr>
              <a:t>El sistema está configurado para despachar de Lunes a Viernes de 09:00 a 17:00 hs.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¿Qué pasa si apruebo a las 20:00 hs?: </a:t>
            </a:r>
            <a:r>
              <a:rPr sz="1150">
                <a:solidFill>
                  <a:srgbClr val="64748B"/>
                </a:solidFill>
              </a:rPr>
              <a:t>La campaña queda guardada en espera de forma segura y comienza a salir sola a las 09:00 hs del día siguiente.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Tranquilidad: </a:t>
            </a:r>
            <a:r>
              <a:rPr sz="1150">
                <a:solidFill>
                  <a:srgbClr val="64748B"/>
                </a:solidFill>
              </a:rPr>
              <a:t>Podés armar tus campañas en cualquier momento sin preocuparte por la hora de salida.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4F9C"/>
                </a:solidFill>
              </a:defRPr>
            </a:pPr>
            <a:r>
              <a:t>TU CUENTA Y AYUDA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D5F"/>
                </a:solidFill>
              </a:defRPr>
            </a:pPr>
            <a:r>
              <a:t>Perfil de Usuario y Canal de Soporte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Gestión de tu acceso personal y cómo actuar ante cualquier duda.</a:t>
            </a:r>
          </a:p>
        </p:txBody>
      </p:sp>
      <p:pic>
        <p:nvPicPr>
          <p:cNvPr id="7" name="Picture 6" descr="logo-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Municipalidad de Tres de Febrero — Dirección de Producción | Plataforma 3F Mailer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120640" cy="73152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Mi Perfil y Contraseña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Tus Datos: </a:t>
            </a:r>
            <a:r>
              <a:rPr sz="1150">
                <a:solidFill>
                  <a:srgbClr val="64748B"/>
                </a:solidFill>
              </a:rPr>
              <a:t>Accedé desde la esquina superior derecha para ver tu nombre, email y rol activo ('Encargada').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Cambio de Contraseña Autónomo: </a:t>
            </a:r>
            <a:r>
              <a:rPr sz="1150">
                <a:solidFill>
                  <a:srgbClr val="64748B"/>
                </a:solidFill>
              </a:rPr>
              <a:t>Podés actualizar tu clave en cualquier momento ingresando tu contraseña actual y la nueva.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Requisitos de Seguridad: </a:t>
            </a:r>
            <a:r>
              <a:rPr sz="1150">
                <a:solidFill>
                  <a:srgbClr val="64748B"/>
                </a:solidFill>
              </a:rPr>
              <a:t>La app te pide una clave segura con letras y números para proteger el acceso.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Recuperar Clave: </a:t>
            </a:r>
            <a:r>
              <a:rPr sz="1150">
                <a:solidFill>
                  <a:srgbClr val="64748B"/>
                </a:solidFill>
              </a:rPr>
              <a:t>Si alguna vez te la olvidás, desde la pantalla de login podés tocar 'Olvidé mi contraseña' y te llega un link a tu correo.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120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Soporte Técnico y Ayuda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Módulo de Soporte: </a:t>
            </a:r>
            <a:r>
              <a:rPr sz="1150">
                <a:solidFill>
                  <a:srgbClr val="64748B"/>
                </a:solidFill>
              </a:rPr>
              <a:t>Desde el menú 'Soporte' podés consultar preguntas frecuentes y guías operativas.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Reporte de Inconvenientes: </a:t>
            </a:r>
            <a:r>
              <a:rPr sz="1150">
                <a:solidFill>
                  <a:srgbClr val="64748B"/>
                </a:solidFill>
              </a:rPr>
              <a:t>Si alguna cuenta de correo se desconfigura o necesitás sumar una nueva funcionalidad, podés solicitar asistencia directa.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Auditoría Interna: </a:t>
            </a:r>
            <a:r>
              <a:rPr sz="1150">
                <a:solidFill>
                  <a:srgbClr val="64748B"/>
                </a:solidFill>
              </a:rPr>
              <a:t>El sistema guarda un registro transparente de cada acción para que nunca haya dudas de cuándo o quién lanzó cada campaña.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4F9C"/>
                </a:solidFill>
              </a:defRPr>
            </a:pPr>
            <a:r>
              <a:t>RECOMENDACIONES FINALES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82D5F"/>
                </a:solidFill>
              </a:defRPr>
            </a:pPr>
            <a:r>
              <a:t>El Decálogo de la Encargada: Claves para el Éxito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Pequeños hábitos diarios que aseguran un funcionamiento perfecto y profesional.</a:t>
            </a:r>
          </a:p>
        </p:txBody>
      </p:sp>
      <p:pic>
        <p:nvPicPr>
          <p:cNvPr id="7" name="Picture 6" descr="logo-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Municipalidad de Tres de Febrero — Dirección de Producción | Plataforma 3F Mailer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1206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Antes de Lanzar una Campaña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1. Enviar siempre Mail de Prueba: </a:t>
            </a:r>
            <a:r>
              <a:rPr sz="1150">
                <a:solidFill>
                  <a:srgbClr val="64748B"/>
                </a:solidFill>
              </a:rPr>
              <a:t>Revisalo en tu propio teléfono y compu antes de apretar 'Aprobar'.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2. Probar los Botones: </a:t>
            </a:r>
            <a:r>
              <a:rPr sz="1150">
                <a:solidFill>
                  <a:srgbClr val="64748B"/>
                </a:solidFill>
              </a:rPr>
              <a:t>Hacé clic en el botón de inscripción del mail de prueba y comprobá que abra el formulario correcto.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3. Verificar la Fecha Límite: </a:t>
            </a:r>
            <a:r>
              <a:rPr sz="1150">
                <a:solidFill>
                  <a:srgbClr val="64748B"/>
                </a:solidFill>
              </a:rPr>
              <a:t>Asegurate de que la fecha límite coincida con el evento.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4. Sincronizar Sheets periódicamente: </a:t>
            </a:r>
            <a:r>
              <a:rPr sz="1150">
                <a:solidFill>
                  <a:srgbClr val="64748B"/>
                </a:solidFill>
              </a:rPr>
              <a:t>Antes de un envío importante, dale clic a 'Sincronizar con Sheets' para tener las últimas empresas cargadas.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82D5F"/>
                </a:solidFill>
              </a:defRPr>
            </a:pPr>
            <a:r>
              <a:t>Durante y Después del Envío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5. No desesperar por la velocidad: </a:t>
            </a:r>
            <a:r>
              <a:rPr sz="1150">
                <a:solidFill>
                  <a:srgbClr val="64748B"/>
                </a:solidFill>
              </a:rPr>
              <a:t>Los correos salen con pausas calculadas para que los servidores de Google no los bloqueen.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6. Chequear la Cola de Envíos: </a:t>
            </a:r>
            <a:r>
              <a:rPr sz="1150">
                <a:solidFill>
                  <a:srgbClr val="64748B"/>
                </a:solidFill>
              </a:rPr>
              <a:t>Si necesitás frenar, usá el botón 'Pausar' con total tranquilidad.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7. Medir a las 48 Horas: </a:t>
            </a:r>
            <a:r>
              <a:rPr sz="1150">
                <a:solidFill>
                  <a:srgbClr val="64748B"/>
                </a:solidFill>
              </a:rPr>
              <a:t>Las empresas suelen abrir los mails entre 24 y 48 horas después del despacho.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293B"/>
                </a:solidFill>
              </a:rPr>
              <a:t>• 8. Mantener la Base Saludable: </a:t>
            </a:r>
            <a:r>
              <a:rPr sz="1150">
                <a:solidFill>
                  <a:srgbClr val="64748B"/>
                </a:solidFill>
              </a:rPr>
              <a:t>Si te avisan de un cambio de correo, actualizalo en la planilla o en la app para el futuro.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